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097280"/>
            <a:ext cx="118872" cy="118872"/>
          </a:xfrm>
          <a:prstGeom prst="ellipse">
            <a:avLst/>
          </a:prstGeom>
          <a:solidFill>
            <a:srgbClr val="6D5EF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194560" y="5394960"/>
            <a:ext cx="118872" cy="118872"/>
          </a:xfrm>
          <a:prstGeom prst="ellipse">
            <a:avLst/>
          </a:prstGeom>
          <a:solidFill>
            <a:srgbClr val="6D5EF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1005840"/>
            <a:ext cx="118872" cy="118872"/>
          </a:xfrm>
          <a:prstGeom prst="ellipse">
            <a:avLst/>
          </a:prstGeom>
          <a:solidFill>
            <a:srgbClr val="6D5EF6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5120640"/>
            <a:ext cx="118872" cy="118872"/>
          </a:xfrm>
          <a:prstGeom prst="ellipse">
            <a:avLst/>
          </a:prstGeom>
          <a:solidFill>
            <a:srgbClr val="6D5EF6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3383280"/>
            <a:ext cx="118872" cy="118872"/>
          </a:xfrm>
          <a:prstGeom prst="ellipse">
            <a:avLst/>
          </a:prstGeom>
          <a:solidFill>
            <a:srgbClr val="6D5EF6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12880" y="3017520"/>
            <a:ext cx="118872" cy="118872"/>
          </a:xfrm>
          <a:prstGeom prst="ellipse">
            <a:avLst/>
          </a:prstGeom>
          <a:solidFill>
            <a:srgbClr val="6D5EF6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3716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6D5EF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50876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A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EvoPM Agent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产品进化智能体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41248" y="3401568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D7D9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LangGraph 的多智能体产品需求决策系统</a:t>
            </a:r>
            <a:endParaRPr lang="en-US" sz="2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9DA0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把分散的用户反馈与 GitHub Issue，变成有证据、有出口、可追溯的产品决策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41248" y="4800600"/>
            <a:ext cx="1367028" cy="420624"/>
          </a:xfrm>
          <a:prstGeom prst="roundRect">
            <a:avLst>
              <a:gd name="adj" fmla="val 50000"/>
            </a:avLst>
          </a:prstGeom>
          <a:solidFill>
            <a:srgbClr val="1E2050"/>
          </a:solidFill>
          <a:ln w="12700">
            <a:solidFill>
              <a:srgbClr val="3A3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800600"/>
            <a:ext cx="13670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7A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409444" y="4800600"/>
            <a:ext cx="1120140" cy="420624"/>
          </a:xfrm>
          <a:prstGeom prst="roundRect">
            <a:avLst>
              <a:gd name="adj" fmla="val 50000"/>
            </a:avLst>
          </a:prstGeom>
          <a:solidFill>
            <a:srgbClr val="1E2050"/>
          </a:solidFill>
          <a:ln w="12700">
            <a:solidFill>
              <a:srgbClr val="3A3D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09444" y="4800600"/>
            <a:ext cx="1120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7A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GLM-5.1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730752" y="4800600"/>
            <a:ext cx="1613916" cy="420624"/>
          </a:xfrm>
          <a:prstGeom prst="roundRect">
            <a:avLst>
              <a:gd name="adj" fmla="val 50000"/>
            </a:avLst>
          </a:prstGeom>
          <a:solidFill>
            <a:srgbClr val="1E2050"/>
          </a:solidFill>
          <a:ln w="12700">
            <a:solidFill>
              <a:srgbClr val="3A3D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0752" y="4800600"/>
            <a:ext cx="16139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7A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Pydantic v2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545836" y="4800600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E2050"/>
          </a:solidFill>
          <a:ln w="12700">
            <a:solidFill>
              <a:srgbClr val="3A3D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5836" y="48006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7A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+ Vite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484364" y="4800600"/>
            <a:ext cx="2107692" cy="420624"/>
          </a:xfrm>
          <a:prstGeom prst="roundRect">
            <a:avLst>
              <a:gd name="adj" fmla="val 50000"/>
            </a:avLst>
          </a:prstGeom>
          <a:solidFill>
            <a:srgbClr val="1E2050"/>
          </a:solidFill>
          <a:ln w="12700">
            <a:solidFill>
              <a:srgbClr val="3A3D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84364" y="4800600"/>
            <a:ext cx="21076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7A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节点 · 7 Agent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" y="5806440"/>
            <a:ext cx="10424160" cy="0"/>
          </a:xfrm>
          <a:prstGeom prst="line">
            <a:avLst/>
          </a:prstGeom>
          <a:noFill/>
          <a:ln w="12700">
            <a:solidFill>
              <a:srgbClr val="3335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SoloVerse · Agent 元宇宙黑客松挑战赛   |   项目文档（背景 · 架构 · 痛点 · 规划）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6D5EF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 · 解决的痛点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产品团队每天都在做、却很难做好的事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反馈在涨，决策的质量却没跟上 —— 三个反复出现的困境：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352958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103120"/>
            <a:ext cx="3529584" cy="82296"/>
          </a:xfrm>
          <a:prstGeom prst="rect">
            <a:avLst/>
          </a:prstGeom>
          <a:solidFill>
            <a:srgbClr val="6D5EF6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41401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59536" y="318211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淹没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3730752"/>
            <a:ext cx="2980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情绪宣泄、重复提交、用错功能混在一起，成百上千条反馈靠人工根本筛不过来，真问题被噪声淹没。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25696" y="2103120"/>
            <a:ext cx="352958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25696" y="2103120"/>
            <a:ext cx="3529584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718304" y="241401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718304" y="318211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拍脑袋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18304" y="3730752"/>
            <a:ext cx="2980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优先级靠感觉和嗓门决定，缺乏证据支撑。做完了说不清「为什么做这个」，无法向团队和管理层交代。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84464" y="2103120"/>
            <a:ext cx="352958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84464" y="2103120"/>
            <a:ext cx="3529584" cy="822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8577072" y="241401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577072" y="318211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断链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77072" y="3730752"/>
            <a:ext cx="2980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需求、竞品、技术可行性、代码影响面各算各的。最终 PRD 无法回溯到底依据了哪条反馈，结论不可追溯。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EvoPM Agent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6D5EF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A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APPROACH · 核心理念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不做更聪明的「分类器」，做一条有纪律的「需求漏斗」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1920240"/>
            <a:ext cx="5029200" cy="3200400"/>
          </a:xfrm>
          <a:prstGeom prst="rect">
            <a:avLst/>
          </a:prstGeom>
          <a:solidFill>
            <a:srgbClr val="1E2050"/>
          </a:solidFill>
          <a:ln w="12700">
            <a:solidFill>
              <a:srgbClr val="3437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920240"/>
            <a:ext cx="91440" cy="3200400"/>
          </a:xfrm>
          <a:prstGeom prst="rect">
            <a:avLst/>
          </a:prstGeom>
          <a:solidFill>
            <a:srgbClr val="6D5EF6"/>
          </a:solidFill>
          <a:ln/>
        </p:spPr>
      </p:sp>
      <p:sp>
        <p:nvSpPr>
          <p:cNvPr id="7" name="Text 5"/>
          <p:cNvSpPr/>
          <p:nvPr/>
        </p:nvSpPr>
        <p:spPr>
          <a:xfrm>
            <a:off x="1161288" y="2148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161288" y="2971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漏斗必须有出口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61288" y="35204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2C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不是所有反馈都转需求，不是所有需求都值得做。过滤 · 查重 · 门禁 · 分流，每一级都有「淘汰 / 分流」记录，并在报告里展示出来。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61288" y="4572000"/>
            <a:ext cx="3657600" cy="411480"/>
          </a:xfrm>
          <a:prstGeom prst="roundRect">
            <a:avLst>
              <a:gd name="adj" fmla="val 22222"/>
            </a:avLst>
          </a:prstGeom>
          <a:solidFill>
            <a:srgbClr val="2A2D63"/>
          </a:solidFill>
          <a:ln/>
        </p:spPr>
      </p:sp>
      <p:sp>
        <p:nvSpPr>
          <p:cNvPr id="11" name="Text 9"/>
          <p:cNvSpPr/>
          <p:nvPr/>
        </p:nvSpPr>
        <p:spPr>
          <a:xfrm>
            <a:off x="1161288" y="4572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A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→ 5 → 3 → 1 → P0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27648" y="1920240"/>
            <a:ext cx="5029200" cy="3200400"/>
          </a:xfrm>
          <a:prstGeom prst="rect">
            <a:avLst/>
          </a:prstGeom>
          <a:solidFill>
            <a:srgbClr val="1E2050"/>
          </a:solidFill>
          <a:ln w="12700">
            <a:solidFill>
              <a:srgbClr val="3437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920240"/>
            <a:ext cx="91440" cy="3200400"/>
          </a:xfrm>
          <a:prstGeom prst="rect">
            <a:avLst/>
          </a:prstGeom>
          <a:solidFill>
            <a:srgbClr val="6D5EF6"/>
          </a:solidFill>
          <a:ln/>
        </p:spPr>
      </p:sp>
      <p:sp>
        <p:nvSpPr>
          <p:cNvPr id="14" name="Text 12"/>
          <p:cNvSpPr/>
          <p:nvPr/>
        </p:nvSpPr>
        <p:spPr>
          <a:xfrm>
            <a:off x="6647688" y="2148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647688" y="2971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所有结论须证据闭包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47688" y="35204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2C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每个判断都引用真实上游证据 id，节点输出后由代码层校验合法性；LLM 编造的引用被直接剔除并交对抗式审查。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47688" y="4572000"/>
            <a:ext cx="3657600" cy="411480"/>
          </a:xfrm>
          <a:prstGeom prst="roundRect">
            <a:avLst>
              <a:gd name="adj" fmla="val 22222"/>
            </a:avLst>
          </a:prstGeom>
          <a:solidFill>
            <a:srgbClr val="2A2D63"/>
          </a:solidFill>
          <a:ln/>
        </p:spPr>
      </p:sp>
      <p:sp>
        <p:nvSpPr>
          <p:cNvPr id="18" name="Text 16"/>
          <p:cNvSpPr/>
          <p:nvPr/>
        </p:nvSpPr>
        <p:spPr>
          <a:xfrm>
            <a:off x="6647688" y="4572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A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evidence_refs 全链校验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DA0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系统只输出建议文档，永不产出代码改动（无 Patch / 无 PR）—— 人工介入分级，执行权始终在人手里。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EvoPM Agent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6D5EF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TECHNICAL · 技术架构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节点 LangGraph 流水线 · 7 个协作智能体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6D5EF6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783080"/>
            <a:ext cx="73152" cy="749808"/>
          </a:xfrm>
          <a:prstGeom prst="rect">
            <a:avLst/>
          </a:prstGeom>
          <a:solidFill>
            <a:srgbClr val="6D5EF6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9280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intake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203704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 Agent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50008" y="2157984"/>
            <a:ext cx="301752" cy="0"/>
          </a:xfrm>
          <a:prstGeom prst="line">
            <a:avLst/>
          </a:prstGeom>
          <a:noFill/>
          <a:ln w="19050">
            <a:solidFill>
              <a:srgbClr val="B9BEC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51760" y="1783080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6D5EF6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1783080"/>
            <a:ext cx="73152" cy="749808"/>
          </a:xfrm>
          <a:prstGeom prst="rect">
            <a:avLst/>
          </a:prstGeom>
          <a:solidFill>
            <a:srgbClr val="6D5EF6"/>
          </a:solidFill>
          <a:ln/>
        </p:spPr>
      </p:sp>
      <p:sp>
        <p:nvSpPr>
          <p:cNvPr id="12" name="Text 10"/>
          <p:cNvSpPr/>
          <p:nvPr/>
        </p:nvSpPr>
        <p:spPr>
          <a:xfrm>
            <a:off x="2798064" y="1892808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discovery 聚类·查重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98064" y="220370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2157984"/>
            <a:ext cx="301752" cy="0"/>
          </a:xfrm>
          <a:prstGeom prst="line">
            <a:avLst/>
          </a:prstGeom>
          <a:noFill/>
          <a:ln w="19050">
            <a:solidFill>
              <a:srgbClr val="B9BEC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919472" y="178308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1783080"/>
            <a:ext cx="73152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065776" y="1892808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人工选簇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65776" y="2203704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interrupt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19672" y="2157984"/>
            <a:ext cx="301752" cy="0"/>
          </a:xfrm>
          <a:prstGeom prst="line">
            <a:avLst/>
          </a:prstGeom>
          <a:noFill/>
          <a:ln w="19050">
            <a:solidFill>
              <a:srgbClr val="B9BEC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21424" y="1371600"/>
            <a:ext cx="21945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0EA5E9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21424" y="1371600"/>
            <a:ext cx="73152" cy="7498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6967728" y="1481328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competitor_research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67728" y="179222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∥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21424" y="2286000"/>
            <a:ext cx="21945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0EA5E9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21424" y="2286000"/>
            <a:ext cx="73152" cy="7498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6967728" y="2395728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tech_research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67728" y="270662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∥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015984" y="2157984"/>
            <a:ext cx="301752" cy="0"/>
          </a:xfrm>
          <a:prstGeom prst="line">
            <a:avLst/>
          </a:prstGeom>
          <a:noFill/>
          <a:ln w="19050">
            <a:solidFill>
              <a:srgbClr val="B9BEC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317736" y="1783080"/>
            <a:ext cx="22860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317736" y="1783080"/>
            <a:ext cx="73152" cy="7498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9464040" y="189280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quality_gate 门禁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464040" y="220370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 · 10维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317736" y="26060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 → enrich 补全 → 回炉重评 ×1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460736" y="2953512"/>
            <a:ext cx="0" cy="411480"/>
          </a:xfrm>
          <a:prstGeom prst="line">
            <a:avLst/>
          </a:prstGeom>
          <a:noFill/>
          <a:ln w="19050">
            <a:solidFill>
              <a:srgbClr val="B9BECC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317736" y="3246120"/>
            <a:ext cx="22860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6D5EF6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317736" y="3246120"/>
            <a:ext cx="73152" cy="749808"/>
          </a:xfrm>
          <a:prstGeom prst="rect">
            <a:avLst/>
          </a:prstGeom>
          <a:solidFill>
            <a:srgbClr val="6D5EF6"/>
          </a:solidFill>
          <a:ln/>
        </p:spPr>
      </p:sp>
      <p:sp>
        <p:nvSpPr>
          <p:cNvPr id="37" name="Text 35"/>
          <p:cNvSpPr/>
          <p:nvPr/>
        </p:nvSpPr>
        <p:spPr>
          <a:xfrm>
            <a:off x="9464040" y="335584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opportunity 机会评分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464040" y="366674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 · 7级优先级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180576" y="3621024"/>
            <a:ext cx="-301752" cy="0"/>
          </a:xfrm>
          <a:prstGeom prst="line">
            <a:avLst/>
          </a:prstGeom>
          <a:noFill/>
          <a:ln w="19050">
            <a:solidFill>
              <a:srgbClr val="B9BEC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004304" y="324612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6D5EF6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004304" y="3246120"/>
            <a:ext cx="73152" cy="749808"/>
          </a:xfrm>
          <a:prstGeom prst="rect">
            <a:avLst/>
          </a:prstGeom>
          <a:solidFill>
            <a:srgbClr val="6D5EF6"/>
          </a:solidFill>
          <a:ln/>
        </p:spPr>
      </p:sp>
      <p:sp>
        <p:nvSpPr>
          <p:cNvPr id="42" name="Text 40"/>
          <p:cNvSpPr/>
          <p:nvPr/>
        </p:nvSpPr>
        <p:spPr>
          <a:xfrm>
            <a:off x="7150608" y="335584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solution_design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150608" y="3666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 · 4角色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867144" y="3621024"/>
            <a:ext cx="-301752" cy="0"/>
          </a:xfrm>
          <a:prstGeom prst="line">
            <a:avLst/>
          </a:prstGeom>
          <a:noFill/>
          <a:ln w="19050">
            <a:solidFill>
              <a:srgbClr val="B9BECC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809744" y="324612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6D5EF6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09744" y="3246120"/>
            <a:ext cx="73152" cy="749808"/>
          </a:xfrm>
          <a:prstGeom prst="rect">
            <a:avLst/>
          </a:prstGeom>
          <a:solidFill>
            <a:srgbClr val="6D5EF6"/>
          </a:solidFill>
          <a:ln/>
        </p:spPr>
      </p:sp>
      <p:sp>
        <p:nvSpPr>
          <p:cNvPr id="47" name="Text 45"/>
          <p:cNvSpPr/>
          <p:nvPr/>
        </p:nvSpPr>
        <p:spPr>
          <a:xfrm>
            <a:off x="4956048" y="335584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 影响面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956048" y="366674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72584" y="3621024"/>
            <a:ext cx="-301752" cy="0"/>
          </a:xfrm>
          <a:prstGeom prst="line">
            <a:avLst/>
          </a:prstGeom>
          <a:noFill/>
          <a:ln w="19050">
            <a:solidFill>
              <a:srgbClr val="B9BECC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2743200" y="3246120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743200" y="3246120"/>
            <a:ext cx="73152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2" name="Text 50"/>
          <p:cNvSpPr/>
          <p:nvPr/>
        </p:nvSpPr>
        <p:spPr>
          <a:xfrm>
            <a:off x="2889504" y="33558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critic 对抗审查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2889504" y="3666744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 · 5档证据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606040" y="3621024"/>
            <a:ext cx="-301752" cy="0"/>
          </a:xfrm>
          <a:prstGeom prst="line">
            <a:avLst/>
          </a:prstGeom>
          <a:noFill/>
          <a:ln w="19050">
            <a:solidFill>
              <a:srgbClr val="B9BECC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66928" y="324612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66928" y="3246120"/>
            <a:ext cx="73152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713232" y="335584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最终评审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13232" y="366674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interrupt · 5操作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743200" y="4087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严重问题 → redo 回炉指定节点（限 1 次）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508760" y="4416552"/>
            <a:ext cx="0" cy="365760"/>
          </a:xfrm>
          <a:prstGeom prst="line">
            <a:avLst/>
          </a:prstGeom>
          <a:noFill/>
          <a:ln w="19050">
            <a:solidFill>
              <a:srgbClr val="B9BECC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566928" y="48006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E2230"/>
          </a:solidFill>
          <a:ln/>
        </p:spPr>
      </p:sp>
      <p:sp>
        <p:nvSpPr>
          <p:cNvPr id="62" name="Text 60"/>
          <p:cNvSpPr/>
          <p:nvPr/>
        </p:nvSpPr>
        <p:spPr>
          <a:xfrm>
            <a:off x="566928" y="4800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 → END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9BE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Jinja2 · 无 LLM · 4 份报告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3657600" y="5029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  </a:t>
            </a:r>
            <a:pPr indent="0" marL="0">
              <a:buNone/>
            </a:pPr>
            <a:r>
              <a:rPr lang="en-US" sz="105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+ MemorySaver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760720" y="5029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 </a:t>
            </a:r>
            <a:pPr indent="0" marL="0">
              <a:buNone/>
            </a:pPr>
            <a:r>
              <a:rPr lang="en-US" sz="105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智谱 GLM-5.1 / 4.5-air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7863840" y="5029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  </a:t>
            </a:r>
            <a:pPr indent="0" marL="0">
              <a:buNone/>
            </a:pPr>
            <a:r>
              <a:rPr lang="en-US" sz="105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Pydantic v2 · function_calling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9966960" y="5029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 </a:t>
            </a:r>
            <a:pPr indent="0" marL="0">
              <a:buNone/>
            </a:pPr>
            <a:r>
              <a:rPr lang="en-US" sz="105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+ Vite + TS ×2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EvoPM Agent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6D5EF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IT WORKS · 需求漏斗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每一级都有出口：淘汰与分流都看得见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8778240" cy="768096"/>
          </a:xfrm>
          <a:prstGeom prst="roundRect">
            <a:avLst>
              <a:gd name="adj" fmla="val 7143"/>
            </a:avLst>
          </a:prstGeom>
          <a:solidFill>
            <a:srgbClr val="6D5EF6">
              <a:alpha val="9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691640"/>
            <a:ext cx="1143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984248" y="1691640"/>
            <a:ext cx="7223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条原始信号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F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 CSV + 真实 GitHub Issue 多源导入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642616"/>
            <a:ext cx="7315200" cy="768096"/>
          </a:xfrm>
          <a:prstGeom prst="roundRect">
            <a:avLst>
              <a:gd name="adj" fmla="val 7143"/>
            </a:avLst>
          </a:prstGeom>
          <a:solidFill>
            <a:srgbClr val="6D5EF6">
              <a:alpha val="9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2642616"/>
            <a:ext cx="1143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84248" y="2642616"/>
            <a:ext cx="5760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条可行动信号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F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 / 误用 / 信息不足 → 滤出 22 条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3593592"/>
            <a:ext cx="5852160" cy="768096"/>
          </a:xfrm>
          <a:prstGeom prst="roundRect">
            <a:avLst>
              <a:gd name="adj" fmla="val 7143"/>
            </a:avLst>
          </a:prstGeom>
          <a:solidFill>
            <a:srgbClr val="0EA5E9">
              <a:alpha val="9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3593592"/>
            <a:ext cx="1143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84248" y="3593592"/>
            <a:ext cx="4297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个问题簇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F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簇经历史需求查重 → DUPLICATE 合并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544568"/>
            <a:ext cx="4480560" cy="768096"/>
          </a:xfrm>
          <a:prstGeom prst="roundRect">
            <a:avLst>
              <a:gd name="adj" fmla="val 7143"/>
            </a:avLst>
          </a:prstGeom>
          <a:solidFill>
            <a:srgbClr val="16A34A">
              <a:alpha val="9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4544568"/>
            <a:ext cx="1143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984248" y="4544568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个焦点需求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F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低优先级簇 → 分流 Later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6928" y="5495544"/>
            <a:ext cx="3200400" cy="768096"/>
          </a:xfrm>
          <a:prstGeom prst="roundRect">
            <a:avLst>
              <a:gd name="adj" fmla="val 7143"/>
            </a:avLst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5495544"/>
            <a:ext cx="1143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984248" y="5495544"/>
            <a:ext cx="1645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立即启动 · Now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FF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机会总分 86.6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646920" y="278892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46920" y="2788920"/>
            <a:ext cx="196596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9829800" y="29443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漏斗出口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29800" y="3346704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条反馈滤出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簇查重合并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簇分流降级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6928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演示数据刻意埋入「会被淘汰 / 分流」的样本——漏斗的价值正在于它敢于说「不做」。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EvoPM Agent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6D5EF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SIGNATURE · 质量门禁自动回炉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需求初评 61 分没过线，自动补全证据后跃升 86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初评 · FAIL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88920" y="2697480"/>
            <a:ext cx="822960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65176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enrich +25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19202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86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3657600" y="33101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终评 · PASS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代码规则判定门禁（总分 ≥ 70 且无 blocker），不是让 LLM 自己说「过」。FAIL 时系统用竞品 / 技术调研的真实证据自动补全一轮再重评——人工介入前先自我纠偏。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53212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53212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维评分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56816" y="5532120"/>
            <a:ext cx="859536" cy="384048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/>
        </p:spPr>
      </p:sp>
      <p:sp>
        <p:nvSpPr>
          <p:cNvPr id="15" name="Text 13"/>
          <p:cNvSpPr/>
          <p:nvPr/>
        </p:nvSpPr>
        <p:spPr>
          <a:xfrm>
            <a:off x="1956816" y="5532120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锚点描述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80944" y="55321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/>
        </p:spPr>
      </p:sp>
      <p:sp>
        <p:nvSpPr>
          <p:cNvPr id="17" name="Text 15"/>
          <p:cNvSpPr/>
          <p:nvPr/>
        </p:nvSpPr>
        <p:spPr>
          <a:xfrm>
            <a:off x="2980944" y="55321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blocker 维度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82896" y="5532120"/>
            <a:ext cx="1591056" cy="384048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4882896" y="553212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回炉计数限 1 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99632" y="2057400"/>
            <a:ext cx="5815584" cy="280377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pic>
        <p:nvPicPr>
          <p:cNvPr id="21" name="Image 0" descr="G:\AI_projects\Product-Evolution-Agents\docs\assets\workbe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2130552"/>
            <a:ext cx="5669280" cy="265747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199632" y="4970907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决策工作台 · 焦点需求质量雷达（10 维）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EvoPM Agent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6D5EF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 · 决策工作台 Decision Workbench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给评委与团队看「结论」的成品界面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6912864" cy="331812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pic>
        <p:nvPicPr>
          <p:cNvPr id="6" name="Image 0" descr="G:\AI_projects\Product-Evolution-Agents\docs\assets\workbe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56232"/>
            <a:ext cx="6766560" cy="31718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210937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浅色 Linear 风 · 6 屏左导航 · 接 glm-5.1 真实 replay 数据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72400" y="1938528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6D5EF6"/>
          </a:solidFill>
          <a:ln/>
        </p:spPr>
      </p:sp>
      <p:sp>
        <p:nvSpPr>
          <p:cNvPr id="9" name="Text 6"/>
          <p:cNvSpPr/>
          <p:nvPr/>
        </p:nvSpPr>
        <p:spPr>
          <a:xfrm>
            <a:off x="8001000" y="184708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焦点需求 HERO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维质量雷达 + 总分 61→86 滚动，初评 / 终评切换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0" y="2779776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6D5EF6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268833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可点击证据弹层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原文摘录 + 来源 + 强度，mock:// 标本地材料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0" y="362102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6D5EF6"/>
          </a:solidFill>
          <a:ln/>
        </p:spPr>
      </p:sp>
      <p:sp>
        <p:nvSpPr>
          <p:cNvPr id="13" name="Text 10"/>
          <p:cNvSpPr/>
          <p:nvPr/>
        </p:nvSpPr>
        <p:spPr>
          <a:xfrm>
            <a:off x="8001000" y="352958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机会评分 · 路线图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Now / Next / Later 分流，DUPLICATE 标记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0" y="4462272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6D5EF6"/>
          </a:solidFill>
          <a:ln/>
        </p:spPr>
      </p:sp>
      <p:sp>
        <p:nvSpPr>
          <p:cNvPr id="15" name="Text 12"/>
          <p:cNvSpPr/>
          <p:nvPr/>
        </p:nvSpPr>
        <p:spPr>
          <a:xfrm>
            <a:off x="8001000" y="43708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研发执行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 ⚠ 高风险 + 任务卡 + 风险清单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72400" y="530352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6D5EF6"/>
          </a:solidFill>
          <a:ln/>
        </p:spPr>
      </p:sp>
      <p:sp>
        <p:nvSpPr>
          <p:cNvPr id="17" name="Text 14"/>
          <p:cNvSpPr/>
          <p:nvPr/>
        </p:nvSpPr>
        <p:spPr>
          <a:xfrm>
            <a:off x="8001000" y="5212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报告中心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份精排报告，[未确认] 结论标注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EvoPM Agent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6D5EF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7A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 · 流水线透视台 Pipeline Observatory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现场演示多智能体执行过程并定位问题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6501384" cy="4118229"/>
          </a:xfrm>
          <a:prstGeom prst="rect">
            <a:avLst/>
          </a:prstGeom>
          <a:solidFill>
            <a:srgbClr val="1E2050"/>
          </a:solidFill>
          <a:ln w="12700">
            <a:solidFill>
              <a:srgbClr val="3A3D78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pic>
        <p:nvPicPr>
          <p:cNvPr id="6" name="Image 0" descr="G:\AI_projects\Product-Evolution-Agents\docs\assets\observatory-dra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19072"/>
            <a:ext cx="6355080" cy="39719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855589"/>
            <a:ext cx="6501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D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深色科技风 · 14 节点蛇形 DAG 实时点亮 · 节点检视抽屉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863840" y="1874520"/>
            <a:ext cx="3749040" cy="914400"/>
          </a:xfrm>
          <a:prstGeom prst="rect">
            <a:avLst/>
          </a:prstGeom>
          <a:solidFill>
            <a:srgbClr val="1E2050"/>
          </a:solidFill>
          <a:ln w="12700">
            <a:solidFill>
              <a:srgbClr val="34376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63840" y="1874520"/>
            <a:ext cx="64008" cy="914400"/>
          </a:xfrm>
          <a:prstGeom prst="rect">
            <a:avLst/>
          </a:prstGeom>
          <a:solidFill>
            <a:srgbClr val="6D5EF6"/>
          </a:solidFill>
          <a:ln/>
        </p:spPr>
      </p:sp>
      <p:sp>
        <p:nvSpPr>
          <p:cNvPr id="10" name="Text 7"/>
          <p:cNvSpPr/>
          <p:nvPr/>
        </p:nvSpPr>
        <p:spPr>
          <a:xfrm>
            <a:off x="8028432" y="198424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节点实时点亮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028432" y="229514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7B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每个节点显示 agent / 一行结论 / 耗时 / 迷你指标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863840" y="2898648"/>
            <a:ext cx="3749040" cy="914400"/>
          </a:xfrm>
          <a:prstGeom prst="rect">
            <a:avLst/>
          </a:prstGeom>
          <a:solidFill>
            <a:srgbClr val="1E2050"/>
          </a:solidFill>
          <a:ln w="12700">
            <a:solidFill>
              <a:srgbClr val="34376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63840" y="2898648"/>
            <a:ext cx="64008" cy="914400"/>
          </a:xfrm>
          <a:prstGeom prst="rect">
            <a:avLst/>
          </a:prstGeom>
          <a:solidFill>
            <a:srgbClr val="6D5EF6"/>
          </a:solidFill>
          <a:ln/>
        </p:spPr>
      </p:sp>
      <p:sp>
        <p:nvSpPr>
          <p:cNvPr id="14" name="Text 11"/>
          <p:cNvSpPr/>
          <p:nvPr/>
        </p:nvSpPr>
        <p:spPr>
          <a:xfrm>
            <a:off x="8028432" y="30083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条件分支与回环明示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028432" y="33192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7B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 fan-in、enrich 回环、未触发的 ghost 路径（紫虚线）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863840" y="3922776"/>
            <a:ext cx="3749040" cy="914400"/>
          </a:xfrm>
          <a:prstGeom prst="rect">
            <a:avLst/>
          </a:prstGeom>
          <a:solidFill>
            <a:srgbClr val="1E2050"/>
          </a:solidFill>
          <a:ln w="12700">
            <a:solidFill>
              <a:srgbClr val="3437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63840" y="3922776"/>
            <a:ext cx="64008" cy="914400"/>
          </a:xfrm>
          <a:prstGeom prst="rect">
            <a:avLst/>
          </a:prstGeom>
          <a:solidFill>
            <a:srgbClr val="6D5EF6"/>
          </a:solidFill>
          <a:ln/>
        </p:spPr>
      </p:sp>
      <p:sp>
        <p:nvSpPr>
          <p:cNvPr id="18" name="Text 15"/>
          <p:cNvSpPr/>
          <p:nvPr/>
        </p:nvSpPr>
        <p:spPr>
          <a:xfrm>
            <a:off x="8028432" y="403250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 + 计数侧栏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028432" y="4343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7B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/ ⏸ / 单步 / 倍速，漏斗 · rounds · LLM 预算环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863840" y="4946904"/>
            <a:ext cx="3749040" cy="914400"/>
          </a:xfrm>
          <a:prstGeom prst="rect">
            <a:avLst/>
          </a:prstGeom>
          <a:solidFill>
            <a:srgbClr val="1E2050"/>
          </a:solidFill>
          <a:ln w="12700">
            <a:solidFill>
              <a:srgbClr val="34376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63840" y="4946904"/>
            <a:ext cx="64008" cy="914400"/>
          </a:xfrm>
          <a:prstGeom prst="rect">
            <a:avLst/>
          </a:prstGeom>
          <a:solidFill>
            <a:srgbClr val="6D5EF6"/>
          </a:solidFill>
          <a:ln/>
        </p:spPr>
      </p:sp>
      <p:sp>
        <p:nvSpPr>
          <p:cNvPr id="22" name="Text 19"/>
          <p:cNvSpPr/>
          <p:nvPr/>
        </p:nvSpPr>
        <p:spPr>
          <a:xfrm>
            <a:off x="8028432" y="50566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节点检视抽屉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8028432" y="53675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7B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结构化字段表 ↔ 原始 JSON 一键切换，异常可定位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EvoPM Agent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6D5EF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TECHNICAL DEPTH · 工程深度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复杂的 Agent 逻辑 + 现场可靠的稳定性兜底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783080"/>
            <a:ext cx="91440" cy="1965960"/>
          </a:xfrm>
          <a:prstGeom prst="rect">
            <a:avLst/>
          </a:prstGeom>
          <a:solidFill>
            <a:srgbClr val="6D5EF6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03911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对抗式审查 Critic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2688" y="2587752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专设审查智能体：5 档证据强度、揪过度推断、弱证据降权为观察项、生成待确认清单；本次跑出 20 条审查发现。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0216" y="178308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0216" y="1783080"/>
            <a:ext cx="91440" cy="1965960"/>
          </a:xfrm>
          <a:prstGeom prst="rect">
            <a:avLst/>
          </a:prstGeom>
          <a:solidFill>
            <a:srgbClr val="6D5EF6"/>
          </a:solidFill>
          <a:ln/>
        </p:spPr>
      </p:sp>
      <p:sp>
        <p:nvSpPr>
          <p:cNvPr id="11" name="Text 9"/>
          <p:cNvSpPr/>
          <p:nvPr/>
        </p:nvSpPr>
        <p:spPr>
          <a:xfrm>
            <a:off x="6665976" y="203911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证据闭包代码校验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65976" y="2587752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evidence_refs 贯穿全部 schema，每个节点输出后由代码校验引用合法性，LLM 编造的引用被剔除并记入 Critic 输入。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402336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" y="4023360"/>
            <a:ext cx="91440" cy="1965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42793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人工介入分级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32688" y="4828032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低风险自动通过 / 中风险进待确认 / 高风险（命中核心模块）强制确认；3 个 interrupt 断点，系统永不改代码。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00216" y="402336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0216" y="4023360"/>
            <a:ext cx="91440" cy="1965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6665976" y="42793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稳定性兜底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665976" y="4828032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429 指数退避重试、结构化输出校验重试、磁盘缓存 + --replay 离线重放、外部依赖失败自动降级 mock。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EvoPM Agent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6D5EF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IMPACT &amp; COMPLETENESS · 应用价值与完成度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可运行的 MVP，且能落到任意活跃产品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94960" cy="4297680"/>
          </a:xfrm>
          <a:prstGeom prst="rect">
            <a:avLst/>
          </a:prstGeom>
          <a:solidFill>
            <a:srgbClr val="F6F7FB"/>
          </a:solidFill>
          <a:ln w="12700">
            <a:solidFill>
              <a:srgbClr val="E6E8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应用价值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261518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6D5EF6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51460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把「读反馈 → 排优先级 → 写 PRD」从数天人工压缩到一次自动化运行，每条结论可追溯。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730752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6D5EF6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3630168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数据源可插拔：任意有用户反馈 + GitHub 仓库的活跃产品 / 开源项目都能接入（本 Demo 用 82.6k★ 的 RAGFlow）。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484632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6D5EF6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4745736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证据闭包 + 人工分级，让 AI 决策可审计、可问责——这正是产品团队敢用 Agent 的前提。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5508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完成度 · 可运行证据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55080" y="2560320"/>
            <a:ext cx="175564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2724912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6409944" y="34015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节点全链跑通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0456" y="2560320"/>
            <a:ext cx="175564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0456" y="2724912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137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8275320" y="34015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测试通过 (10 skip)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85832" y="2560320"/>
            <a:ext cx="175564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85832" y="2724912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10140696" y="34015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 React 前端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55080" y="3877056"/>
            <a:ext cx="175564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55080" y="4041648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6409944" y="47183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份 Markdown 报告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0456" y="3877056"/>
            <a:ext cx="175564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0456" y="4041648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3300" dirty="0"/>
          </a:p>
        </p:txBody>
      </p:sp>
      <p:sp>
        <p:nvSpPr>
          <p:cNvPr id="28" name="Text 26"/>
          <p:cNvSpPr/>
          <p:nvPr/>
        </p:nvSpPr>
        <p:spPr>
          <a:xfrm>
            <a:off x="8275320" y="47183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 LLM 调用 (replay)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085832" y="3877056"/>
            <a:ext cx="175564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085832" y="4041648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300" dirty="0"/>
          </a:p>
        </p:txBody>
      </p:sp>
      <p:sp>
        <p:nvSpPr>
          <p:cNvPr id="31" name="Text 29"/>
          <p:cNvSpPr/>
          <p:nvPr/>
        </p:nvSpPr>
        <p:spPr>
          <a:xfrm>
            <a:off x="10140696" y="47183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离线可复现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55080" y="54864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evopm run --replay：断网也能端到端完整演示——演示路径可靠 &gt; 工程完备。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EvoPM Agent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6D5EF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 · 未来规划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Demo 到能持续进化的产品决策中枢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783080"/>
            <a:ext cx="3611880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89280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打磨 Demo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9536" y="3246120"/>
            <a:ext cx="30449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后端实时 API 串联两套前端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门禁 / 评分权重可视化调参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更多真实 Issue 样本回归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53128" y="178308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53128" y="1783080"/>
            <a:ext cx="3611880" cy="640080"/>
          </a:xfrm>
          <a:prstGeom prst="rect">
            <a:avLst/>
          </a:prstGeom>
          <a:solidFill>
            <a:srgbClr val="6D5EF6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189280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27448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走向闭环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45736" y="3246120"/>
            <a:ext cx="30449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实时反馈流接入（工单 / 社区 / 应用商店）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决策落地后的追踪与回环验证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多产品 / 多模块并行分析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39328" y="178308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1A1A2E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9328" y="1783080"/>
            <a:ext cx="3611880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8613648" y="189280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LATER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13648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生态与规模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31936" y="3246120"/>
            <a:ext cx="30449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深度集成 SoloVerse 生态工具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团队协作与评审工作台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0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决策知识库沉淀与复用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EvoPM Agent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155448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D5EF6"/>
          </a:solidFill>
          <a:ln/>
        </p:spPr>
      </p:sp>
      <p:sp>
        <p:nvSpPr>
          <p:cNvPr id="3" name="Text 1"/>
          <p:cNvSpPr/>
          <p:nvPr/>
        </p:nvSpPr>
        <p:spPr>
          <a:xfrm>
            <a:off x="5074920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760720" y="15727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7A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EvoPM Agent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让每一个产品决策</a:t>
            </a:r>
            <a:endParaRPr lang="en-US" sz="40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都有证据 · 有出口 · 可追溯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4526280"/>
            <a:ext cx="5760720" cy="0"/>
          </a:xfrm>
          <a:prstGeom prst="line">
            <a:avLst/>
          </a:prstGeom>
          <a:noFill/>
          <a:ln w="12700">
            <a:solidFill>
              <a:srgbClr val="3335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DA0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LangGraph 的多智能体产品需求决策系统  ·  SoloVerse · Agent 元宇宙黑客松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A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github.com/Adversit/Product-Evolution-Agents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7D9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EvoPM Agent 项目文档</dc:title>
  <dc:subject>PptxGenJS Presentation</dc:subject>
  <dc:creator>EvoPM Team</dc:creator>
  <cp:lastModifiedBy>EvoPM Team</cp:lastModifiedBy>
  <cp:revision>1</cp:revision>
  <dcterms:created xsi:type="dcterms:W3CDTF">2026-06-15T15:45:57Z</dcterms:created>
  <dcterms:modified xsi:type="dcterms:W3CDTF">2026-06-15T15:45:57Z</dcterms:modified>
</cp:coreProperties>
</file>